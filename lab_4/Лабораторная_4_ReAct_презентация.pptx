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96dde48-6b93-b101-c4dd-ead1a5412efe}">
          <p14:sldIdLst>
            <p14:sldId id="256"/>
            <p14:sldId id="257"/>
            <p14:sldId id="258"/>
          </p14:sldIdLst>
        </p14:section>
        <p14:section name="Теория" id="{7acfc59a-2477-e835-7215-d160dd6fc48f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Лабораторная работа 4" id="{86153c36-1402-83a1-6bb7-276ee8833a98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Итоги" id="{9fdcf7de-adfe-5e46-ee8e-35979f5b249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недели 4: как превратить языковую модель в агента. Сначала теория (ReAct, Plan-and-Execute, Reflexion, память, вызов инструментов, безопасность), затем что именно мы делаем в лабораторной 4 и что получилось.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Определение Anthropic (Building Effective Agents): в workflow путь задан кодом, в агенте LLM сама решает, какие шаги делать. Главное правило: начинайте с простого.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не выполняет инструменты сама, она только генерирует текст с намерением вызова. Выполняет код, поэтому именно в коде находятся проверка прав, валидация, логирование и остановка.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(Yao et al., ICLR 2023) чередует рассуждение и действие. Это паттерн промптинга, а не новая архитектура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по оригинальной статье: ALFWorld +34 п.п., WebShop +10 п.п. относительно имитационного обучения и RL, при одном-двух примерах в промпте.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Plan-and-Solve (Wang et al., ACL 2023). Reflexion (Shinn et al., NeurIPS 2023): 91% pass@1 на HumanEval против 80% у GPT-4 без рефлексии.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In-context: рабочий стол (в лабораторной это список messages). Векторная: архив, поиск по смыслу. БД: учётная система с точными записями. Lost in the Middle: важное лучше держать в начале или в конце контекста.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лабораторной выбран текстовый вариант из учебных соображений: виден весь механизм. В продакшене обычно используют нативный function calling.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Top 10 for LLM Applications 2025, риск LLM06 Excessive Agency. Observation, пришедший из документа, недоверенные данные: возможна косвенная prompt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Агент отвечает сотрудникам на вопросы по внутренним HR-документам вымышленной компании: нужно и найти факт, и посчитать.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Parser проверяет порядок совпадений: Final Answer считается финалом, только если он идёт раньше Action. Текст после «Observation:» отбрасывается, чтобы выдуманное наблюдение не попало в историю.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JSON-запись на строку: легко дописывать и читать pandas. На неделе 8 такие трассировки загружаются в LangSmith или Langfuse.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qwen3.5:9b локально через Ollama (CPU), temperature=0. Верность проверялась по обязательным числам в ответе и просмотрена вручную.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Цель: убедиться, что агент не придумывает факты и не падает, когда ответа нет или инструмента не существует.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ИИ-АГЕНТЫ ДЛЯ АВТОМАТИЗАЦИИ КОРПОРАТИВНЫХ ПРОЦЕССОВ · НЕДЕЛЯ 4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ReAct-агент с нуля</a:t>
            </a:r>
            <a:endParaRPr lang="en-US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Что нужно знать и что в лабораторной работе 4</a:t>
            </a:r>
            <a:endParaRPr lang="en-US" sz="2200" dirty="0"/>
          </a:p>
        </p:txBody>
      </p:sp>
      <p:sp>
        <p:nvSpPr>
          <p:cNvPr id="5" name="Loop Thought"/>
          <p:cNvSpPr/>
          <p:nvPr/>
        </p:nvSpPr>
        <p:spPr>
          <a:xfrm>
            <a:off x="640080" y="3383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Loop Thought text"/>
          <p:cNvSpPr txBox="1"/>
          <p:nvPr/>
        </p:nvSpPr>
        <p:spPr>
          <a:xfrm>
            <a:off x="64008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</a:t>
            </a:r>
            <a:endParaRPr lang="en-US" sz="2400" dirty="0"/>
          </a:p>
        </p:txBody>
      </p:sp>
      <p:sp>
        <p:nvSpPr>
          <p:cNvPr id="7" name="Loop label Thought"/>
          <p:cNvSpPr txBox="1"/>
          <p:nvPr/>
        </p:nvSpPr>
        <p:spPr>
          <a:xfrm>
            <a:off x="365760" y="4187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Thought</a:t>
            </a:r>
            <a:endParaRPr lang="en-US" sz="1200" dirty="0"/>
          </a:p>
        </p:txBody>
      </p:sp>
      <p:sp>
        <p:nvSpPr>
          <p:cNvPr id="8" name="Arrow 0"/>
          <p:cNvSpPr/>
          <p:nvPr/>
        </p:nvSpPr>
        <p:spPr>
          <a:xfrm>
            <a:off x="1463040" y="3630168"/>
            <a:ext cx="411480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Loop Action"/>
          <p:cNvSpPr/>
          <p:nvPr/>
        </p:nvSpPr>
        <p:spPr>
          <a:xfrm>
            <a:off x="1965960" y="3383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Loop Action text"/>
          <p:cNvSpPr txBox="1"/>
          <p:nvPr/>
        </p:nvSpPr>
        <p:spPr>
          <a:xfrm>
            <a:off x="19659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</a:t>
            </a:r>
            <a:endParaRPr lang="en-US" sz="2400" dirty="0"/>
          </a:p>
        </p:txBody>
      </p:sp>
      <p:sp>
        <p:nvSpPr>
          <p:cNvPr id="11" name="Loop label Action"/>
          <p:cNvSpPr txBox="1"/>
          <p:nvPr/>
        </p:nvSpPr>
        <p:spPr>
          <a:xfrm>
            <a:off x="1691640" y="4187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Action</a:t>
            </a:r>
            <a:endParaRPr lang="en-US" sz="1200" dirty="0"/>
          </a:p>
        </p:txBody>
      </p:sp>
      <p:sp>
        <p:nvSpPr>
          <p:cNvPr id="12" name="Arrow 1"/>
          <p:cNvSpPr/>
          <p:nvPr/>
        </p:nvSpPr>
        <p:spPr>
          <a:xfrm>
            <a:off x="2788920" y="3630168"/>
            <a:ext cx="411480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Loop Observation"/>
          <p:cNvSpPr/>
          <p:nvPr/>
        </p:nvSpPr>
        <p:spPr>
          <a:xfrm>
            <a:off x="3291840" y="33832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Loop Observation text"/>
          <p:cNvSpPr txBox="1"/>
          <p:nvPr/>
        </p:nvSpPr>
        <p:spPr>
          <a:xfrm>
            <a:off x="32918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</a:t>
            </a:r>
            <a:endParaRPr lang="en-US" sz="2400" dirty="0"/>
          </a:p>
        </p:txBody>
      </p:sp>
      <p:sp>
        <p:nvSpPr>
          <p:cNvPr id="15" name="Loop label Observation"/>
          <p:cNvSpPr txBox="1"/>
          <p:nvPr/>
        </p:nvSpPr>
        <p:spPr>
          <a:xfrm>
            <a:off x="3017520" y="4187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16" name="Author"/>
          <p:cNvSpPr txBox="1"/>
          <p:nvPr/>
        </p:nvSpPr>
        <p:spPr>
          <a:xfrm>
            <a:off x="512064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Университет Алатоо · 2026–2027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Чат-бот, workflow или агент</a:t>
            </a:r>
            <a:endParaRPr lang="en-US" sz="3000" dirty="0"/>
          </a:p>
        </p:txBody>
      </p:sp>
      <p:sp>
        <p:nvSpPr>
          <p:cNvPr id="4" name="Card Чат-бот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hip Чат-бот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Chip Чат-бот text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Head Чат-бот"/>
          <p:cNvSpPr txBox="1"/>
          <p:nvPr/>
        </p:nvSpPr>
        <p:spPr>
          <a:xfrm>
            <a:off x="12344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Чат-бот</a:t>
            </a:r>
            <a:endParaRPr lang="en-US" sz="2000" dirty="0"/>
          </a:p>
        </p:txBody>
      </p:sp>
      <p:sp>
        <p:nvSpPr>
          <p:cNvPr id="8" name="Body Чат-бот"/>
          <p:cNvSpPr txBox="1"/>
          <p:nvPr/>
        </p:nvSpPr>
        <p:spPr>
          <a:xfrm>
            <a:off x="640080" y="2011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Один вызов LLM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Шагов нет, инструментов нет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Пример: Ответ на вопрос о продукте</a:t>
            </a:r>
            <a:endParaRPr lang="en-US" sz="1400" dirty="0"/>
          </a:p>
        </p:txBody>
      </p:sp>
      <p:sp>
        <p:nvSpPr>
          <p:cNvPr id="9" name="Card Workflow"/>
          <p:cNvSpPr/>
          <p:nvPr/>
        </p:nvSpPr>
        <p:spPr>
          <a:xfrm>
            <a:off x="324612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hip Workflow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hip Workflow text"/>
          <p:cNvSpPr txBox="1"/>
          <p:nvPr/>
        </p:nvSpPr>
        <p:spPr>
          <a:xfrm>
            <a:off x="34290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Head Workflow"/>
          <p:cNvSpPr txBox="1"/>
          <p:nvPr/>
        </p:nvSpPr>
        <p:spPr>
          <a:xfrm>
            <a:off x="40233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2000" dirty="0"/>
          </a:p>
        </p:txBody>
      </p:sp>
      <p:sp>
        <p:nvSpPr>
          <p:cNvPr id="13" name="Body Workflow"/>
          <p:cNvSpPr txBox="1"/>
          <p:nvPr/>
        </p:nvSpPr>
        <p:spPr>
          <a:xfrm>
            <a:off x="3429000" y="2011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Путь задан в коде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Число вызовов LLM фиксировано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Пример: Письмо → классификация → запись в CRM</a:t>
            </a:r>
            <a:endParaRPr lang="en-US" sz="1400" dirty="0"/>
          </a:p>
        </p:txBody>
      </p:sp>
      <p:sp>
        <p:nvSpPr>
          <p:cNvPr id="14" name="Card Агент"/>
          <p:cNvSpPr/>
          <p:nvPr/>
        </p:nvSpPr>
        <p:spPr>
          <a:xfrm>
            <a:off x="603504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hip Агент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Chip Агент text"/>
          <p:cNvSpPr txBox="1"/>
          <p:nvPr/>
        </p:nvSpPr>
        <p:spPr>
          <a:xfrm>
            <a:off x="6217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Head Агент"/>
          <p:cNvSpPr txBox="1"/>
          <p:nvPr/>
        </p:nvSpPr>
        <p:spPr>
          <a:xfrm>
            <a:off x="681228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</a:t>
            </a:r>
            <a:endParaRPr lang="en-US" sz="2000" dirty="0"/>
          </a:p>
        </p:txBody>
      </p:sp>
      <p:sp>
        <p:nvSpPr>
          <p:cNvPr id="18" name="Body Агент"/>
          <p:cNvSpPr txBox="1"/>
          <p:nvPr/>
        </p:nvSpPr>
        <p:spPr>
          <a:xfrm>
            <a:off x="6217920" y="2011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LLM сама ведёт решение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Число шагов заранее неизвестно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Пример: Расследование подозрительной транзакции</a:t>
            </a:r>
            <a:endParaRPr lang="en-US" sz="1400" dirty="0"/>
          </a:p>
        </p:txBody>
      </p:sp>
      <p:sp>
        <p:nvSpPr>
          <p:cNvPr id="19" name="Takeaway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Если задачу решает один вызов LLM или фиксированный workflow, агент не нужен: он дороже и менее предсказуем.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Общий цикл агента</a:t>
            </a:r>
            <a:endParaRPr lang="en-US" sz="3000" dirty="0"/>
          </a:p>
        </p:txBody>
      </p:sp>
      <p:sp>
        <p:nvSpPr>
          <p:cNvPr id="4" name="Box Задача"/>
          <p:cNvSpPr/>
          <p:nvPr/>
        </p:nvSpPr>
        <p:spPr>
          <a:xfrm>
            <a:off x="457200" y="1371600"/>
            <a:ext cx="210312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ox text Задача"/>
          <p:cNvSpPr txBox="1"/>
          <p:nvPr/>
        </p:nvSpPr>
        <p:spPr>
          <a:xfrm>
            <a:off x="45720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Задача</a:t>
            </a:r>
            <a:endParaRPr lang="en-US" sz="1500" dirty="0"/>
          </a:p>
        </p:txBody>
      </p:sp>
      <p:sp>
        <p:nvSpPr>
          <p:cNvPr id="6" name="Box LLM: рассуждение"/>
          <p:cNvSpPr/>
          <p:nvPr/>
        </p:nvSpPr>
        <p:spPr>
          <a:xfrm>
            <a:off x="3520440" y="1371600"/>
            <a:ext cx="21031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Box text LLM: рассуждение"/>
          <p:cNvSpPr txBox="1"/>
          <p:nvPr/>
        </p:nvSpPr>
        <p:spPr>
          <a:xfrm>
            <a:off x="352044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LLM: рассуждение</a:t>
            </a:r>
            <a:endParaRPr lang="en-US" sz="1500" dirty="0"/>
          </a:p>
        </p:txBody>
      </p:sp>
      <p:sp>
        <p:nvSpPr>
          <p:cNvPr id="8" name="Box Код: выполняет инструмент"/>
          <p:cNvSpPr/>
          <p:nvPr/>
        </p:nvSpPr>
        <p:spPr>
          <a:xfrm>
            <a:off x="3520440" y="3017520"/>
            <a:ext cx="21031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ox text Код: выполняет инструмент"/>
          <p:cNvSpPr txBox="1"/>
          <p:nvPr/>
        </p:nvSpPr>
        <p:spPr>
          <a:xfrm>
            <a:off x="352044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Код: выполняет инструмент</a:t>
            </a:r>
            <a:endParaRPr lang="en-US" sz="1500" dirty="0"/>
          </a:p>
        </p:txBody>
      </p:sp>
      <p:sp>
        <p:nvSpPr>
          <p:cNvPr id="10" name="Box Итоговый ответ"/>
          <p:cNvSpPr/>
          <p:nvPr/>
        </p:nvSpPr>
        <p:spPr>
          <a:xfrm>
            <a:off x="6583680" y="1371600"/>
            <a:ext cx="2103120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Box text Итоговый ответ"/>
          <p:cNvSpPr txBox="1"/>
          <p:nvPr/>
        </p:nvSpPr>
        <p:spPr>
          <a:xfrm>
            <a:off x="658368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Итоговый ответ</a:t>
            </a:r>
            <a:endParaRPr lang="en-US" sz="1500" dirty="0"/>
          </a:p>
        </p:txBody>
      </p:sp>
      <p:sp>
        <p:nvSpPr>
          <p:cNvPr id="12" name="Arrow 1"/>
          <p:cNvSpPr/>
          <p:nvPr/>
        </p:nvSpPr>
        <p:spPr>
          <a:xfrm>
            <a:off x="2606040" y="1627632"/>
            <a:ext cx="82296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Arrow 2"/>
          <p:cNvSpPr/>
          <p:nvPr/>
        </p:nvSpPr>
        <p:spPr>
          <a:xfrm>
            <a:off x="5715000" y="1627632"/>
            <a:ext cx="77724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4" name="Arrow 3"/>
          <p:cNvSpPr/>
          <p:nvPr/>
        </p:nvSpPr>
        <p:spPr>
          <a:xfrm>
            <a:off x="4389120" y="2286000"/>
            <a:ext cx="365760" cy="640080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bl ready"/>
          <p:cNvSpPr txBox="1"/>
          <p:nvPr/>
        </p:nvSpPr>
        <p:spPr>
          <a:xfrm>
            <a:off x="5669280" y="1325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ответ готов</a:t>
            </a:r>
            <a:endParaRPr lang="en-US" sz="1100" dirty="0"/>
          </a:p>
        </p:txBody>
      </p:sp>
      <p:sp>
        <p:nvSpPr>
          <p:cNvPr id="16" name="Lbl tool"/>
          <p:cNvSpPr txBox="1"/>
          <p:nvPr/>
        </p:nvSpPr>
        <p:spPr>
          <a:xfrm>
            <a:off x="484632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выбран инструмент</a:t>
            </a:r>
            <a:endParaRPr lang="en-US" sz="1200" dirty="0"/>
          </a:p>
        </p:txBody>
      </p:sp>
      <p:sp>
        <p:nvSpPr>
          <p:cNvPr id="17" name="Lbl obs"/>
          <p:cNvSpPr txBox="1"/>
          <p:nvPr/>
        </p:nvSpPr>
        <p:spPr>
          <a:xfrm>
            <a:off x="576072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Observation возвращается в контекст → снова к LLM</a:t>
            </a:r>
            <a:endParaRPr lang="en-US" sz="1400" dirty="0"/>
          </a:p>
        </p:txBody>
      </p:sp>
      <p:sp>
        <p:nvSpPr>
          <p:cNvPr id="18" name="Principle card"/>
          <p:cNvSpPr/>
          <p:nvPr/>
        </p:nvSpPr>
        <p:spPr>
          <a:xfrm>
            <a:off x="457200" y="3017520"/>
            <a:ext cx="2743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Principle"/>
          <p:cNvSpPr txBox="1"/>
          <p:nvPr/>
        </p:nvSpPr>
        <p:spPr>
          <a:xfrm>
            <a:off x="640080" y="31272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Главное правило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Модель пишет текст, а всё реальное делает ваш код.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ReAct: мысль → действие → наблюдение</a:t>
            </a:r>
            <a:endParaRPr lang="en-US" sz="3000" dirty="0"/>
          </a:p>
        </p:txBody>
      </p:sp>
      <p:sp>
        <p:nvSpPr>
          <p:cNvPr id="4" name="Chip Thought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hip Thought text"/>
          <p:cNvSpPr txBox="1"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</a:t>
            </a:r>
            <a:endParaRPr lang="en-US" sz="1600" dirty="0"/>
          </a:p>
        </p:txBody>
      </p:sp>
      <p:sp>
        <p:nvSpPr>
          <p:cNvPr id="6" name="Name Thought"/>
          <p:cNvSpPr txBox="1"/>
          <p:nvPr/>
        </p:nvSpPr>
        <p:spPr>
          <a:xfrm>
            <a:off x="114300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Thought · Модель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рассуждение о следующем шаге</a:t>
            </a:r>
            <a:endParaRPr lang="en-US" sz="1400" dirty="0"/>
          </a:p>
        </p:txBody>
      </p:sp>
      <p:sp>
        <p:nvSpPr>
          <p:cNvPr id="7" name="Chip Action + Input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Chip Action + Input text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</a:t>
            </a:r>
            <a:endParaRPr lang="en-US" sz="1600" dirty="0"/>
          </a:p>
        </p:txBody>
      </p:sp>
      <p:sp>
        <p:nvSpPr>
          <p:cNvPr id="9" name="Name Action + Input"/>
          <p:cNvSpPr txBox="1"/>
          <p:nvPr/>
        </p:nvSpPr>
        <p:spPr>
          <a:xfrm>
            <a:off x="114300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Action + Input · Модель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имя инструмента и аргумент: только намерение</a:t>
            </a:r>
            <a:endParaRPr lang="en-US" sz="1400" dirty="0"/>
          </a:p>
        </p:txBody>
      </p:sp>
      <p:sp>
        <p:nvSpPr>
          <p:cNvPr id="10" name="Chip Observation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Chip Observation text"/>
          <p:cNvSpPr txBox="1"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К</a:t>
            </a:r>
            <a:endParaRPr lang="en-US" sz="1600" dirty="0"/>
          </a:p>
        </p:txBody>
      </p:sp>
      <p:sp>
        <p:nvSpPr>
          <p:cNvPr id="12" name="Name Observation"/>
          <p:cNvSpPr txBox="1"/>
          <p:nvPr/>
        </p:nvSpPr>
        <p:spPr>
          <a:xfrm>
            <a:off x="114300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Observation · Код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настоящий результат или текст ошибки</a:t>
            </a:r>
            <a:endParaRPr lang="en-US" sz="1400" dirty="0"/>
          </a:p>
        </p:txBody>
      </p:sp>
      <p:sp>
        <p:nvSpPr>
          <p:cNvPr id="13" name="Chip Final Answer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Chip Final Answer text"/>
          <p:cNvSpPr txBox="1"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</a:t>
            </a:r>
            <a:endParaRPr lang="en-US" sz="1600" dirty="0"/>
          </a:p>
        </p:txBody>
      </p:sp>
      <p:sp>
        <p:nvSpPr>
          <p:cNvPr id="15" name="Name Final Answer"/>
          <p:cNvSpPr txBox="1"/>
          <p:nvPr/>
        </p:nvSpPr>
        <p:spPr>
          <a:xfrm>
            <a:off x="114300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Final Answer · Модель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ответ пользователю, выход из цикла</a:t>
            </a:r>
            <a:endParaRPr lang="en-US" sz="1400" dirty="0"/>
          </a:p>
        </p:txBody>
      </p:sp>
      <p:sp>
        <p:nvSpPr>
          <p:cNvPr id="16" name="Trajectory bg"/>
          <p:cNvSpPr/>
          <p:nvPr/>
        </p:nvSpPr>
        <p:spPr>
          <a:xfrm>
            <a:off x="4526280" y="1143000"/>
            <a:ext cx="4160520" cy="3383280"/>
          </a:xfrm>
          <a:prstGeom prst="roundRect">
            <a:avLst>
              <a:gd name="adj" fmla="val 1622"/>
            </a:avLst>
          </a:prstGeom>
          <a:solidFill>
            <a:schemeClr val="tx1"/>
          </a:solidFill>
          <a:ln/>
        </p:spPr>
      </p:sp>
      <p:sp>
        <p:nvSpPr>
          <p:cNvPr id="17" name="Trajectory"/>
          <p:cNvSpPr txBox="1"/>
          <p:nvPr/>
        </p:nvSpPr>
        <p:spPr>
          <a:xfrm>
            <a:off x="4709160" y="128016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суточные за 4 дня?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нужна ставка суточных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text_search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суточные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... 1500 сом в день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1500 *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calculator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1500 *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6000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6000 сом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показал ReAct</a:t>
            </a:r>
            <a:endParaRPr lang="en-US" sz="3000" dirty="0"/>
          </a:p>
        </p:txBody>
      </p:sp>
      <p:sp>
        <p:nvSpPr>
          <p:cNvPr id="4" name="Stat 0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tat num 0"/>
          <p:cNvSpPr txBox="1"/>
          <p:nvPr/>
        </p:nvSpPr>
        <p:spPr>
          <a:xfrm>
            <a:off x="640080" y="1280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+34</a:t>
            </a:r>
            <a:endParaRPr lang="en-US" sz="4800" dirty="0"/>
          </a:p>
        </p:txBody>
      </p:sp>
      <p:sp>
        <p:nvSpPr>
          <p:cNvPr id="6" name="Stat lbl 0"/>
          <p:cNvSpPr txBox="1"/>
          <p:nvPr/>
        </p:nvSpPr>
        <p:spPr>
          <a:xfrm>
            <a:off x="64008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п.п. успешности на ALFWorld</a:t>
            </a:r>
            <a:endParaRPr lang="en-US" sz="1400" dirty="0"/>
          </a:p>
        </p:txBody>
      </p:sp>
      <p:sp>
        <p:nvSpPr>
          <p:cNvPr id="7" name="Stat 1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at num 1"/>
          <p:cNvSpPr txBox="1"/>
          <p:nvPr/>
        </p:nvSpPr>
        <p:spPr>
          <a:xfrm>
            <a:off x="3429000" y="1280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</a:t>
            </a:r>
            <a:endParaRPr lang="en-US" sz="4800" dirty="0"/>
          </a:p>
        </p:txBody>
      </p:sp>
      <p:sp>
        <p:nvSpPr>
          <p:cNvPr id="9" name="Stat lbl 1"/>
          <p:cNvSpPr txBox="1"/>
          <p:nvPr/>
        </p:nvSpPr>
        <p:spPr>
          <a:xfrm>
            <a:off x="342900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п.п. успешности на WebShop</a:t>
            </a:r>
            <a:endParaRPr lang="en-US" sz="1400" dirty="0"/>
          </a:p>
        </p:txBody>
      </p:sp>
      <p:sp>
        <p:nvSpPr>
          <p:cNvPr id="10" name="Stat 2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tat num 2"/>
          <p:cNvSpPr txBox="1"/>
          <p:nvPr/>
        </p:nvSpPr>
        <p:spPr>
          <a:xfrm>
            <a:off x="6217920" y="1280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</a:t>
            </a:r>
            <a:endParaRPr lang="en-US" sz="4800" dirty="0"/>
          </a:p>
        </p:txBody>
      </p:sp>
      <p:sp>
        <p:nvSpPr>
          <p:cNvPr id="12" name="Stat lbl 2"/>
          <p:cNvSpPr txBox="1"/>
          <p:nvPr/>
        </p:nvSpPr>
        <p:spPr>
          <a:xfrm>
            <a:off x="621792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примера в промпте вместо дообучения</a:t>
            </a:r>
            <a:endParaRPr lang="en-US" sz="1400" dirty="0"/>
          </a:p>
        </p:txBody>
      </p:sp>
      <p:sp>
        <p:nvSpPr>
          <p:cNvPr id="13" name="Plus head"/>
          <p:cNvSpPr txBox="1"/>
          <p:nvPr/>
        </p:nvSpPr>
        <p:spPr>
          <a:xfrm>
            <a:off x="45720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Плюсы</a:t>
            </a:r>
            <a:endParaRPr lang="en-US" sz="1800" dirty="0"/>
          </a:p>
        </p:txBody>
      </p:sp>
      <p:sp>
        <p:nvSpPr>
          <p:cNvPr id="14" name="Plus"/>
          <p:cNvSpPr txBox="1"/>
          <p:nvPr/>
        </p:nvSpPr>
        <p:spPr>
          <a:xfrm>
            <a:off x="457200" y="33375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Простота: промпт и цикл на 30–50 строк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План корректируется после каждого наблюдения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 журналу видно, почему принято решение</a:t>
            </a:r>
            <a:endParaRPr lang="en-US" sz="1400" dirty="0"/>
          </a:p>
        </p:txBody>
      </p:sp>
      <p:sp>
        <p:nvSpPr>
          <p:cNvPr id="15" name="Minus head"/>
          <p:cNvSpPr txBox="1"/>
          <p:nvPr/>
        </p:nvSpPr>
        <p:spPr>
          <a:xfrm>
            <a:off x="475488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Минусы</a:t>
            </a:r>
            <a:endParaRPr lang="en-US" sz="1800" dirty="0"/>
          </a:p>
        </p:txBody>
      </p:sp>
      <p:sp>
        <p:nvSpPr>
          <p:cNvPr id="16" name="Minus"/>
          <p:cNvSpPr txBox="1"/>
          <p:nvPr/>
        </p:nvSpPr>
        <p:spPr>
          <a:xfrm>
            <a:off x="4754880" y="33375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Каждый шаг — вызов LLM: задержка и стоимость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Нет глобального плана, возможны круги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Контекст растёт с каждым шагом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Plan-and-Execute и Reflexion</a:t>
            </a:r>
            <a:endParaRPr lang="en-US" sz="3000" dirty="0"/>
          </a:p>
        </p:txBody>
      </p:sp>
      <p:sp>
        <p:nvSpPr>
          <p:cNvPr id="4" name="Card PaE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E head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Plan-and-Execute</a:t>
            </a:r>
            <a:endParaRPr lang="en-US" sz="2000" dirty="0"/>
          </a:p>
        </p:txBody>
      </p:sp>
      <p:sp>
        <p:nvSpPr>
          <p:cNvPr id="6" name="PaE flow"/>
          <p:cNvSpPr txBox="1"/>
          <p:nvPr/>
        </p:nvSpPr>
        <p:spPr>
          <a:xfrm>
            <a:off x="68580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планировщик → исполнитель → перепланирование</a:t>
            </a:r>
            <a:endParaRPr lang="en-US" sz="1400" dirty="0"/>
          </a:p>
        </p:txBody>
      </p:sp>
      <p:sp>
        <p:nvSpPr>
          <p:cNvPr id="7" name="PaE body"/>
          <p:cNvSpPr txBox="1"/>
          <p:nvPr/>
        </p:nvSpPr>
        <p:spPr>
          <a:xfrm>
            <a:off x="685800" y="23774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Выгоден для длинных многоэтапных задач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Сильная модель нужна только для плана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Независимые шаги идут параллельно (ReWOO, LLMCompiler)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Риск: план устаревает, если среда меняется</a:t>
            </a:r>
            <a:endParaRPr lang="en-US" sz="1400" dirty="0"/>
          </a:p>
        </p:txBody>
      </p:sp>
      <p:sp>
        <p:nvSpPr>
          <p:cNvPr id="8" name="Card Refl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Refl head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Reflexion</a:t>
            </a:r>
            <a:endParaRPr lang="en-US" sz="2000" dirty="0"/>
          </a:p>
        </p:txBody>
      </p:sp>
      <p:sp>
        <p:nvSpPr>
          <p:cNvPr id="10" name="Refl flow"/>
          <p:cNvSpPr txBox="1"/>
          <p:nvPr/>
        </p:nvSpPr>
        <p:spPr>
          <a:xfrm>
            <a:off x="489204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Actor → Evaluator → Self-Reflection</a:t>
            </a:r>
            <a:endParaRPr lang="en-US" sz="1400" dirty="0"/>
          </a:p>
        </p:txBody>
      </p:sp>
      <p:sp>
        <p:nvSpPr>
          <p:cNvPr id="11" name="Refl body"/>
          <p:cNvSpPr txBox="1"/>
          <p:nvPr/>
        </p:nvSpPr>
        <p:spPr>
          <a:xfrm>
            <a:off x="4892040" y="23774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Урок записывается текстом в память, а не в веса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91% pass@1 на HumanEval против 80% у GPT-4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Нужен надёжный автоматический оценщик (тесты, SQL, схема)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Несколько попыток: стоимость растёт кратно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Три вида памяти агента</a:t>
            </a:r>
            <a:endParaRPr lang="en-US" sz="3000" dirty="0"/>
          </a:p>
        </p:txBody>
      </p:sp>
      <p:sp>
        <p:nvSpPr>
          <p:cNvPr id="4" name="Mem In-context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em chip In-context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Mem chip In-context text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Mem head In-context"/>
          <p:cNvSpPr txBox="1"/>
          <p:nvPr/>
        </p:nvSpPr>
        <p:spPr>
          <a:xfrm>
            <a:off x="123444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In-context</a:t>
            </a:r>
            <a:endParaRPr lang="en-US" sz="1800" dirty="0"/>
          </a:p>
        </p:txBody>
      </p:sp>
      <p:sp>
        <p:nvSpPr>
          <p:cNvPr id="8" name="Mem an In-context"/>
          <p:cNvSpPr txBox="1"/>
          <p:nvPr/>
        </p:nvSpPr>
        <p:spPr>
          <a:xfrm>
            <a:off x="12344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рабочий стол</a:t>
            </a:r>
            <a:endParaRPr lang="en-US" sz="1200" dirty="0"/>
          </a:p>
        </p:txBody>
      </p:sp>
      <p:sp>
        <p:nvSpPr>
          <p:cNvPr id="9" name="Mem body In-context"/>
          <p:cNvSpPr txBox="1"/>
          <p:nvPr/>
        </p:nvSpPr>
        <p:spPr>
          <a:xfrm>
            <a:off x="640080" y="2103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В запросе к LLM: история и шаги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Риск: переполнение окна, стоимость, «потеря в середине»</a:t>
            </a:r>
            <a:endParaRPr lang="en-US" sz="1400" dirty="0"/>
          </a:p>
        </p:txBody>
      </p:sp>
      <p:sp>
        <p:nvSpPr>
          <p:cNvPr id="10" name="Mem Векторная"/>
          <p:cNvSpPr/>
          <p:nvPr/>
        </p:nvSpPr>
        <p:spPr>
          <a:xfrm>
            <a:off x="324612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Mem chip Векторная"/>
          <p:cNvSpPr/>
          <p:nvPr/>
        </p:nvSpPr>
        <p:spPr>
          <a:xfrm>
            <a:off x="3429000" y="1325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Mem chip Векторная text"/>
          <p:cNvSpPr txBox="1"/>
          <p:nvPr/>
        </p:nvSpPr>
        <p:spPr>
          <a:xfrm>
            <a:off x="34290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Mem head Векторная"/>
          <p:cNvSpPr txBox="1"/>
          <p:nvPr/>
        </p:nvSpPr>
        <p:spPr>
          <a:xfrm>
            <a:off x="40233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Векторная</a:t>
            </a:r>
            <a:endParaRPr lang="en-US" sz="1800" dirty="0"/>
          </a:p>
        </p:txBody>
      </p:sp>
      <p:sp>
        <p:nvSpPr>
          <p:cNvPr id="14" name="Mem an Векторная"/>
          <p:cNvSpPr txBox="1"/>
          <p:nvPr/>
        </p:nvSpPr>
        <p:spPr>
          <a:xfrm>
            <a:off x="402336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архив</a:t>
            </a:r>
            <a:endParaRPr lang="en-US" sz="1200" dirty="0"/>
          </a:p>
        </p:txBody>
      </p:sp>
      <p:sp>
        <p:nvSpPr>
          <p:cNvPr id="15" name="Mem body Векторная"/>
          <p:cNvSpPr txBox="1"/>
          <p:nvPr/>
        </p:nvSpPr>
        <p:spPr>
          <a:xfrm>
            <a:off x="3429000" y="2103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ChromaDB, Qdrant, pgvector; поиск top-k по смыслу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Риск: нерелевантные и устаревшие фрагменты</a:t>
            </a:r>
            <a:endParaRPr lang="en-US" sz="1400" dirty="0"/>
          </a:p>
        </p:txBody>
      </p:sp>
      <p:sp>
        <p:nvSpPr>
          <p:cNvPr id="16" name="Mem База данных"/>
          <p:cNvSpPr/>
          <p:nvPr/>
        </p:nvSpPr>
        <p:spPr>
          <a:xfrm>
            <a:off x="603504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Mem chip База данных"/>
          <p:cNvSpPr/>
          <p:nvPr/>
        </p:nvSpPr>
        <p:spPr>
          <a:xfrm>
            <a:off x="6217920" y="1325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8" name="Mem chip База данных text"/>
          <p:cNvSpPr txBox="1"/>
          <p:nvPr/>
        </p:nvSpPr>
        <p:spPr>
          <a:xfrm>
            <a:off x="6217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Mem head База данных"/>
          <p:cNvSpPr txBox="1"/>
          <p:nvPr/>
        </p:nvSpPr>
        <p:spPr>
          <a:xfrm>
            <a:off x="681228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данных</a:t>
            </a:r>
            <a:endParaRPr lang="en-US" sz="1800" dirty="0"/>
          </a:p>
        </p:txBody>
      </p:sp>
      <p:sp>
        <p:nvSpPr>
          <p:cNvPr id="20" name="Mem an База данных"/>
          <p:cNvSpPr txBox="1"/>
          <p:nvPr/>
        </p:nvSpPr>
        <p:spPr>
          <a:xfrm>
            <a:off x="68122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учётная система</a:t>
            </a:r>
            <a:endParaRPr lang="en-US" sz="1200" dirty="0"/>
          </a:p>
        </p:txBody>
      </p:sp>
      <p:sp>
        <p:nvSpPr>
          <p:cNvPr id="21" name="Mem body База данных"/>
          <p:cNvSpPr txBox="1"/>
          <p:nvPr/>
        </p:nvSpPr>
        <p:spPr>
          <a:xfrm>
            <a:off x="6217920" y="2103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PostgreSQL, Redis; точные факты через инструменты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Риск: права доступа, утечки персональных данных</a:t>
            </a:r>
            <a:endParaRPr lang="en-US" sz="1400" dirty="0"/>
          </a:p>
        </p:txBody>
      </p:sp>
      <p:sp>
        <p:nvSpPr>
          <p:cNvPr id="22" name="Lost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Lost in the Middle: модель хуже использует факты из середины длинного контекста, поэтому «положить всё в контекст» — плохая стратегия.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Текстовый ReAct и function calling</a:t>
            </a:r>
            <a:endParaRPr lang="en-US" sz="3000" dirty="0"/>
          </a:p>
        </p:txBody>
      </p:sp>
      <p:sp>
        <p:nvSpPr>
          <p:cNvPr id="4" name="Card text"/>
          <p:cNvSpPr/>
          <p:nvPr/>
        </p:nvSpPr>
        <p:spPr>
          <a:xfrm>
            <a:off x="45720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head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Текстовый ReAct</a:t>
            </a:r>
            <a:endParaRPr lang="en-US" sz="1800" dirty="0"/>
          </a:p>
        </p:txBody>
      </p:sp>
      <p:sp>
        <p:nvSpPr>
          <p:cNvPr id="6" name="Text body"/>
          <p:cNvSpPr txBox="1"/>
          <p:nvPr/>
        </p:nvSpPr>
        <p:spPr>
          <a:xfrm>
            <a:off x="68580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Это вариант лабораторной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Вызов — свободный текст, разбор регулярками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Работает с любой instruct-моделью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Модель может нарушить формат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Видна вся механика: промпт, парсер, цикл</a:t>
            </a:r>
            <a:endParaRPr lang="en-US" sz="1400" dirty="0"/>
          </a:p>
        </p:txBody>
      </p:sp>
      <p:sp>
        <p:nvSpPr>
          <p:cNvPr id="7" name="Card native"/>
          <p:cNvSpPr/>
          <p:nvPr/>
        </p:nvSpPr>
        <p:spPr>
          <a:xfrm>
            <a:off x="466344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Native head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Нативный function calling</a:t>
            </a:r>
            <a:endParaRPr lang="en-US" sz="1800" dirty="0"/>
          </a:p>
        </p:txBody>
      </p:sp>
      <p:sp>
        <p:nvSpPr>
          <p:cNvPr id="9" name="Native body"/>
          <p:cNvSpPr txBox="1"/>
          <p:nvPr/>
        </p:nvSpPr>
        <p:spPr>
          <a:xfrm>
            <a:off x="489204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Вызов — JSON по схеме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Нужна модель и API с поддержкой tools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Надёжный разбор, параллельные вызовы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Механика скрыта внутри API</a:t>
            </a:r>
            <a:endParaRPr lang="en-US" sz="1400" dirty="0"/>
          </a:p>
        </p:txBody>
      </p:sp>
      <p:sp>
        <p:nvSpPr>
          <p:cNvPr id="10" name="tool_choice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tool_choice: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 (сам решает) · any / required (обязан вызвать) · tool (конкретный) · none (запрещено). Принудительный вызов даёт структурированные данные.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Безопасность инструментов</a:t>
            </a:r>
            <a:endParaRPr lang="en-US" sz="3000" dirty="0"/>
          </a:p>
        </p:txBody>
      </p:sp>
      <p:sp>
        <p:nvSpPr>
          <p:cNvPr id="4" name="Sec Никакого eval()"/>
          <p:cNvSpPr/>
          <p:nvPr/>
        </p:nvSpPr>
        <p:spPr>
          <a:xfrm>
            <a:off x="457200" y="118872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ec chip Никакого eval()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Sec chip Никакого eval() text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ec text Никакого eval()"/>
          <p:cNvSpPr txBox="1"/>
          <p:nvPr/>
        </p:nvSpPr>
        <p:spPr>
          <a:xfrm>
            <a:off x="1234440" y="1325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Никакого eval()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Строка от LLM может содержать __import__('os').system(...). Калькулятор разбирает выражение через ast</a:t>
            </a:r>
            <a:endParaRPr lang="en-US" sz="1400" dirty="0"/>
          </a:p>
        </p:txBody>
      </p:sp>
      <p:sp>
        <p:nvSpPr>
          <p:cNvPr id="8" name="Sec Минимум привилегий"/>
          <p:cNvSpPr/>
          <p:nvPr/>
        </p:nvSpPr>
        <p:spPr>
          <a:xfrm>
            <a:off x="4663440" y="118872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ec chip Минимум привилегий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Sec chip Минимум привилегий text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ec text Минимум привилегий"/>
          <p:cNvSpPr txBox="1"/>
          <p:nvPr/>
        </p:nvSpPr>
        <p:spPr>
          <a:xfrm>
            <a:off x="5440680" y="1325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Минимум привилегий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Поиск читает только папку docs/, БД — только нужные таблицы</a:t>
            </a:r>
            <a:endParaRPr lang="en-US" sz="1400" dirty="0"/>
          </a:p>
        </p:txBody>
      </p:sp>
      <p:sp>
        <p:nvSpPr>
          <p:cNvPr id="12" name="Sec Валидация и лимиты"/>
          <p:cNvSpPr/>
          <p:nvPr/>
        </p:nvSpPr>
        <p:spPr>
          <a:xfrm>
            <a:off x="457200" y="256032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ec chip Валидация и лимиты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Sec chip Валидация и лимиты text"/>
          <p:cNvSpPr txBox="1"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ec text Валидация и лимиты"/>
          <p:cNvSpPr txBox="1"/>
          <p:nvPr/>
        </p:nvSpPr>
        <p:spPr>
          <a:xfrm>
            <a:off x="1234440" y="2697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Валидация и лимиты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Проверка аргументов, max_steps, ограничение степени: 9**9**9</a:t>
            </a:r>
            <a:endParaRPr lang="en-US" sz="1400" dirty="0"/>
          </a:p>
        </p:txBody>
      </p:sp>
      <p:sp>
        <p:nvSpPr>
          <p:cNvPr id="16" name="Sec Человек в контуре"/>
          <p:cNvSpPr/>
          <p:nvPr/>
        </p:nvSpPr>
        <p:spPr>
          <a:xfrm>
            <a:off x="4663440" y="256032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ec chip Человек в контуре"/>
          <p:cNvSpPr/>
          <p:nvPr/>
        </p:nvSpPr>
        <p:spPr>
          <a:xfrm>
            <a:off x="4846320" y="2743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Sec chip Человек в контуре text"/>
          <p:cNvSpPr txBox="1"/>
          <p:nvPr/>
        </p:nvSpPr>
        <p:spPr>
          <a:xfrm>
            <a:off x="48463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ec text Человек в контуре"/>
          <p:cNvSpPr txBox="1"/>
          <p:nvPr/>
        </p:nvSpPr>
        <p:spPr>
          <a:xfrm>
            <a:off x="5440680" y="2697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Человек в контуре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Необратимые действия (платежи, письма, удаление) — только с подтверждением</a:t>
            </a:r>
            <a:endParaRPr lang="en-US" sz="1400" dirty="0"/>
          </a:p>
        </p:txBody>
      </p:sp>
      <p:sp>
        <p:nvSpPr>
          <p:cNvPr id="20" name="OWASP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OWASP LLM06: Excessive Agency — слишком широкие функции, права или самостоятельность агента.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Лабораторная работа 4</a:t>
            </a:r>
            <a:endParaRPr lang="en-US" sz="4000" dirty="0"/>
          </a:p>
        </p:txBody>
      </p:sp>
      <p:sp>
        <p:nvSpPr>
          <p:cNvPr id="3" name="Section sub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ReAct-агент на чистом Python: без LangChain и LangGraph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нужно сделать</a:t>
            </a:r>
            <a:endParaRPr lang="en-US" sz="3000" dirty="0"/>
          </a:p>
        </p:txBody>
      </p:sp>
      <p:sp>
        <p:nvSpPr>
          <p:cNvPr id="4" name="Tree bg"/>
          <p:cNvSpPr/>
          <p:nvPr/>
        </p:nvSpPr>
        <p:spPr>
          <a:xfrm>
            <a:off x="457200" y="1188720"/>
            <a:ext cx="3931920" cy="219456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5" name="Tree"/>
          <p:cNvSpPr txBox="1"/>
          <p:nvPr/>
        </p:nvSpPr>
        <p:spPr>
          <a:xfrm>
            <a:off x="640080" y="13258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lab_4/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4 файла 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tools.py     calculator,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agent.py     промпт, парсер, цикл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tests.py     mock и live тесты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analyze.py   метрики по журналу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agent_log.jsonl</a:t>
            </a:r>
            <a:endParaRPr lang="en-US" sz="1200" dirty="0"/>
          </a:p>
        </p:txBody>
      </p:sp>
      <p:sp>
        <p:nvSpPr>
          <p:cNvPr id="6" name="Step chip 0"/>
          <p:cNvSpPr/>
          <p:nvPr/>
        </p:nvSpPr>
        <p:spPr>
          <a:xfrm>
            <a:off x="475488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chip 0 text"/>
          <p:cNvSpPr txBox="1"/>
          <p:nvPr/>
        </p:nvSpPr>
        <p:spPr>
          <a:xfrm>
            <a:off x="47548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tep 0"/>
          <p:cNvSpPr txBox="1"/>
          <p:nvPr/>
        </p:nvSpPr>
        <p:spPr>
          <a:xfrm>
            <a:off x="5394960" y="1188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Инструменты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calculator и text_search с источником</a:t>
            </a:r>
            <a:endParaRPr lang="en-US" sz="1400" dirty="0"/>
          </a:p>
        </p:txBody>
      </p:sp>
      <p:sp>
        <p:nvSpPr>
          <p:cNvPr id="9" name="Step chip 1"/>
          <p:cNvSpPr/>
          <p:nvPr/>
        </p:nvSpPr>
        <p:spPr>
          <a:xfrm>
            <a:off x="4754880" y="1892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chip 1 text"/>
          <p:cNvSpPr txBox="1"/>
          <p:nvPr/>
        </p:nvSpPr>
        <p:spPr>
          <a:xfrm>
            <a:off x="47548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1"/>
          <p:cNvSpPr txBox="1"/>
          <p:nvPr/>
        </p:nvSpPr>
        <p:spPr>
          <a:xfrm>
            <a:off x="5394960" y="18470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Промпт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формат Thought / Action / Observation</a:t>
            </a:r>
            <a:endParaRPr lang="en-US" sz="1400" dirty="0"/>
          </a:p>
        </p:txBody>
      </p:sp>
      <p:sp>
        <p:nvSpPr>
          <p:cNvPr id="12" name="Step chip 2"/>
          <p:cNvSpPr/>
          <p:nvPr/>
        </p:nvSpPr>
        <p:spPr>
          <a:xfrm>
            <a:off x="4754880" y="2551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chip 2 text"/>
          <p:cNvSpPr txBox="1"/>
          <p:nvPr/>
        </p:nvSpPr>
        <p:spPr>
          <a:xfrm>
            <a:off x="475488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tep 2"/>
          <p:cNvSpPr txBox="1"/>
          <p:nvPr/>
        </p:nvSpPr>
        <p:spPr>
          <a:xfrm>
            <a:off x="5394960" y="25054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Парсер и цикл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final, action, ошибка формата</a:t>
            </a:r>
            <a:endParaRPr lang="en-US" sz="1400" dirty="0"/>
          </a:p>
        </p:txBody>
      </p:sp>
      <p:sp>
        <p:nvSpPr>
          <p:cNvPr id="15" name="Step chip 3"/>
          <p:cNvSpPr/>
          <p:nvPr/>
        </p:nvSpPr>
        <p:spPr>
          <a:xfrm>
            <a:off x="475488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chip 3 text"/>
          <p:cNvSpPr txBox="1"/>
          <p:nvPr/>
        </p:nvSpPr>
        <p:spPr>
          <a:xfrm>
            <a:off x="475488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Step 3"/>
          <p:cNvSpPr txBox="1"/>
          <p:nvPr/>
        </p:nvSpPr>
        <p:spPr>
          <a:xfrm>
            <a:off x="5394960" y="31638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Журнал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JSONL: шаг, токены, задержка</a:t>
            </a:r>
            <a:endParaRPr lang="en-US" sz="1400" dirty="0"/>
          </a:p>
        </p:txBody>
      </p:sp>
      <p:sp>
        <p:nvSpPr>
          <p:cNvPr id="18" name="Step chip 4"/>
          <p:cNvSpPr/>
          <p:nvPr/>
        </p:nvSpPr>
        <p:spPr>
          <a:xfrm>
            <a:off x="4754880" y="38679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chip 4 text"/>
          <p:cNvSpPr txBox="1"/>
          <p:nvPr/>
        </p:nvSpPr>
        <p:spPr>
          <a:xfrm>
            <a:off x="47548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Step 4"/>
          <p:cNvSpPr txBox="1"/>
          <p:nvPr/>
        </p:nvSpPr>
        <p:spPr>
          <a:xfrm>
            <a:off x="5394960" y="3822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Тесты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5 вопросов и 2 «поломки»</a:t>
            </a:r>
            <a:endParaRPr lang="en-US" sz="1400" dirty="0"/>
          </a:p>
        </p:txBody>
      </p:sp>
      <p:sp>
        <p:nvSpPr>
          <p:cNvPr id="21" name="Grading"/>
          <p:cNvSpPr/>
          <p:nvPr/>
        </p:nvSpPr>
        <p:spPr>
          <a:xfrm>
            <a:off x="457200" y="3611880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Grading text"/>
          <p:cNvSpPr txBox="1"/>
          <p:nvPr/>
        </p:nvSpPr>
        <p:spPr>
          <a:xfrm>
            <a:off x="640080" y="37216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Оценивание (100 + 10 бонус)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цикл 30 · поиск 15 · журнал 20 · тесты 25 · код 10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Парсер и цикл агента</a:t>
            </a:r>
            <a:endParaRPr lang="en-US" sz="3000" dirty="0"/>
          </a:p>
        </p:txBody>
      </p:sp>
      <p:sp>
        <p:nvSpPr>
          <p:cNvPr id="4" name="Loop code bg"/>
          <p:cNvSpPr/>
          <p:nvPr/>
        </p:nvSpPr>
        <p:spPr>
          <a:xfrm>
            <a:off x="457200" y="1188720"/>
            <a:ext cx="4206240" cy="3429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/>
        </p:spPr>
      </p:sp>
      <p:sp>
        <p:nvSpPr>
          <p:cNvPr id="5" name="Loop code"/>
          <p:cNvSpPr txBox="1"/>
          <p:nvPr/>
        </p:nvSpPr>
        <p:spPr>
          <a:xfrm>
            <a:off x="640080" y="132588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in range(1, max_steps+1):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= llm(messages)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kind, *rest = parse(reply.text)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kind == 'final':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rest[0]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kind == 'action':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obs = TOOLS[name](arg)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obs = rest[0]   # формат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log(step, obs, usage)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+= [assistant, obs]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'не удалось за N шагов'</a:t>
            </a:r>
            <a:endParaRPr lang="en-US" sz="1400" dirty="0"/>
          </a:p>
        </p:txBody>
      </p:sp>
      <p:sp>
        <p:nvSpPr>
          <p:cNvPr id="6" name="Branch chip 0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Branch chip 0 text"/>
          <p:cNvSpPr txBox="1"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Branch 0"/>
          <p:cNvSpPr txBox="1"/>
          <p:nvPr/>
        </p:nvSpPr>
        <p:spPr>
          <a:xfrm>
            <a:off x="5577840" y="1188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возвращаем ответ, пишем event=final</a:t>
            </a:r>
            <a:endParaRPr lang="en-US" sz="1400" dirty="0"/>
          </a:p>
        </p:txBody>
      </p:sp>
      <p:sp>
        <p:nvSpPr>
          <p:cNvPr id="9" name="Branch chip 1"/>
          <p:cNvSpPr/>
          <p:nvPr/>
        </p:nvSpPr>
        <p:spPr>
          <a:xfrm>
            <a:off x="493776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Branch chip 1 text"/>
          <p:cNvSpPr txBox="1"/>
          <p:nvPr/>
        </p:nvSpPr>
        <p:spPr>
          <a:xfrm>
            <a:off x="49377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Branch 1"/>
          <p:cNvSpPr txBox="1"/>
          <p:nvPr/>
        </p:nvSpPr>
        <p:spPr>
          <a:xfrm>
            <a:off x="5577840" y="2057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вызываем инструмент, результат — Observation</a:t>
            </a:r>
            <a:endParaRPr lang="en-US" sz="1400" dirty="0"/>
          </a:p>
        </p:txBody>
      </p:sp>
      <p:sp>
        <p:nvSpPr>
          <p:cNvPr id="12" name="Branch chip 2"/>
          <p:cNvSpPr/>
          <p:nvPr/>
        </p:nvSpPr>
        <p:spPr>
          <a:xfrm>
            <a:off x="4937760" y="3017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Branch chip 2 text"/>
          <p:cNvSpPr txBox="1"/>
          <p:nvPr/>
        </p:nvSpPr>
        <p:spPr>
          <a:xfrm>
            <a:off x="4937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Branch 2"/>
          <p:cNvSpPr txBox="1"/>
          <p:nvPr/>
        </p:nvSpPr>
        <p:spPr>
          <a:xfrm>
            <a:off x="5577840" y="2926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неизвестный инструмент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Observation с ошибкой и списком TOOLS</a:t>
            </a:r>
            <a:endParaRPr lang="en-US" sz="1400" dirty="0"/>
          </a:p>
        </p:txBody>
      </p:sp>
      <p:sp>
        <p:nvSpPr>
          <p:cNvPr id="15" name="Branch chip 3"/>
          <p:cNvSpPr/>
          <p:nvPr/>
        </p:nvSpPr>
        <p:spPr>
          <a:xfrm>
            <a:off x="4937760" y="3886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Branch chip 3 text"/>
          <p:cNvSpPr txBox="1"/>
          <p:nvPr/>
        </p:nvSpPr>
        <p:spPr>
          <a:xfrm>
            <a:off x="49377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Branch 3"/>
          <p:cNvSpPr txBox="1"/>
          <p:nvPr/>
        </p:nvSpPr>
        <p:spPr>
          <a:xfrm>
            <a:off x="557784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ошибка формата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Observation: «соблюдай формат», без падения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Журнал шагов: JSONL</a:t>
            </a:r>
            <a:endParaRPr lang="en-US" sz="3000" dirty="0"/>
          </a:p>
        </p:txBody>
      </p:sp>
      <p:sp>
        <p:nvSpPr>
          <p:cNvPr id="4" name="Log sample bg"/>
          <p:cNvSpPr/>
          <p:nvPr/>
        </p:nvSpPr>
        <p:spPr>
          <a:xfrm>
            <a:off x="457200" y="1188720"/>
            <a:ext cx="4754880" cy="3429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/>
        </p:spPr>
      </p:sp>
      <p:sp>
        <p:nvSpPr>
          <p:cNvPr id="5" name="Log sample"/>
          <p:cNvSpPr txBox="1"/>
          <p:nvPr/>
        </p:nvSpPr>
        <p:spPr>
          <a:xfrm>
            <a:off x="640080" y="1325880"/>
            <a:ext cx="43891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{"ts": "2026-10-12T10:29:36Z",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"run_id": "20261012-162858",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"step": 1, "event": "step",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"llm_output": "Thought: ...\n Action: text_search",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"action": "text_search",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"action_input": "отпуск дней",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"observation": "[hr_policy.txt, абзац 0] ...",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"tool_ok": true, "latency_s": 38.5,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"usage": {"prompt_tokens": 320,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"completion_tokens": 105}}</a:t>
            </a:r>
            <a:endParaRPr lang="en-US" sz="1300" dirty="0"/>
          </a:p>
        </p:txBody>
      </p:sp>
      <p:sp>
        <p:nvSpPr>
          <p:cNvPr id="6" name="Events head"/>
          <p:cNvSpPr txBox="1"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События</a:t>
            </a:r>
            <a:endParaRPr lang="en-US" sz="1800" dirty="0"/>
          </a:p>
        </p:txBody>
      </p:sp>
      <p:sp>
        <p:nvSpPr>
          <p:cNvPr id="7" name="Events"/>
          <p:cNvSpPr txBox="1"/>
          <p:nvPr/>
        </p:nvSpPr>
        <p:spPr>
          <a:xfrm>
            <a:off x="5486400" y="1554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max_steps_reached</a:t>
            </a:r>
            <a:endParaRPr lang="en-US" sz="1400" dirty="0"/>
          </a:p>
        </p:txBody>
      </p:sp>
      <p:sp>
        <p:nvSpPr>
          <p:cNvPr id="8" name="Metrics head"/>
          <p:cNvSpPr txBox="1"/>
          <p:nvPr/>
        </p:nvSpPr>
        <p:spPr>
          <a:xfrm>
            <a:off x="54864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по журналу</a:t>
            </a:r>
            <a:endParaRPr lang="en-US" sz="1800" dirty="0"/>
          </a:p>
        </p:txBody>
      </p:sp>
      <p:sp>
        <p:nvSpPr>
          <p:cNvPr id="9" name="Metrics"/>
          <p:cNvSpPr txBox="1"/>
          <p:nvPr/>
        </p:nvSpPr>
        <p:spPr>
          <a:xfrm>
            <a:off x="5486400" y="32004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доля верных ответов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шаги и задержка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доля успешных tool_ok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суммарно токенов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Результаты на 5 вопросах</a:t>
            </a:r>
            <a:endParaRPr lang="en-US" sz="3000" dirty="0"/>
          </a:p>
        </p:txBody>
      </p:sp>
      <p:sp>
        <p:nvSpPr>
          <p:cNvPr id="4" name="KPI 0"/>
          <p:cNvSpPr/>
          <p:nvPr/>
        </p:nvSpPr>
        <p:spPr>
          <a:xfrm>
            <a:off x="457200" y="109728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PI num 0"/>
          <p:cNvSpPr txBox="1"/>
          <p:nvPr/>
        </p:nvSpPr>
        <p:spPr>
          <a:xfrm>
            <a:off x="457200" y="1170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2600" dirty="0"/>
          </a:p>
        </p:txBody>
      </p:sp>
      <p:sp>
        <p:nvSpPr>
          <p:cNvPr id="6" name="KPI lbl 0"/>
          <p:cNvSpPr txBox="1"/>
          <p:nvPr/>
        </p:nvSpPr>
        <p:spPr>
          <a:xfrm>
            <a:off x="457200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верных ответов</a:t>
            </a:r>
            <a:endParaRPr lang="en-US" sz="1100" dirty="0"/>
          </a:p>
        </p:txBody>
      </p:sp>
      <p:sp>
        <p:nvSpPr>
          <p:cNvPr id="7" name="KPI 1"/>
          <p:cNvSpPr/>
          <p:nvPr/>
        </p:nvSpPr>
        <p:spPr>
          <a:xfrm>
            <a:off x="2121408" y="109728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KPI num 1"/>
          <p:cNvSpPr txBox="1"/>
          <p:nvPr/>
        </p:nvSpPr>
        <p:spPr>
          <a:xfrm>
            <a:off x="2121408" y="1170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endParaRPr lang="en-US" sz="2600" dirty="0"/>
          </a:p>
        </p:txBody>
      </p:sp>
      <p:sp>
        <p:nvSpPr>
          <p:cNvPr id="9" name="KPI lbl 1"/>
          <p:cNvSpPr txBox="1"/>
          <p:nvPr/>
        </p:nvSpPr>
        <p:spPr>
          <a:xfrm>
            <a:off x="2121408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шага на вопрос</a:t>
            </a:r>
            <a:endParaRPr lang="en-US" sz="1100" dirty="0"/>
          </a:p>
        </p:txBody>
      </p:sp>
      <p:sp>
        <p:nvSpPr>
          <p:cNvPr id="10" name="KPI 2"/>
          <p:cNvSpPr/>
          <p:nvPr/>
        </p:nvSpPr>
        <p:spPr>
          <a:xfrm>
            <a:off x="3785616" y="109728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KPI num 2"/>
          <p:cNvSpPr txBox="1"/>
          <p:nvPr/>
        </p:nvSpPr>
        <p:spPr>
          <a:xfrm>
            <a:off x="3785616" y="1170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 с</a:t>
            </a:r>
            <a:endParaRPr lang="en-US" sz="2600" dirty="0"/>
          </a:p>
        </p:txBody>
      </p:sp>
      <p:sp>
        <p:nvSpPr>
          <p:cNvPr id="12" name="KPI lbl 2"/>
          <p:cNvSpPr txBox="1"/>
          <p:nvPr/>
        </p:nvSpPr>
        <p:spPr>
          <a:xfrm>
            <a:off x="3785616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задержка LLM</a:t>
            </a:r>
            <a:endParaRPr lang="en-US" sz="1100" dirty="0"/>
          </a:p>
        </p:txBody>
      </p:sp>
      <p:sp>
        <p:nvSpPr>
          <p:cNvPr id="13" name="KPI 3"/>
          <p:cNvSpPr/>
          <p:nvPr/>
        </p:nvSpPr>
        <p:spPr>
          <a:xfrm>
            <a:off x="5449824" y="109728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KPI num 3"/>
          <p:cNvSpPr txBox="1"/>
          <p:nvPr/>
        </p:nvSpPr>
        <p:spPr>
          <a:xfrm>
            <a:off x="5449824" y="1170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2600" dirty="0"/>
          </a:p>
        </p:txBody>
      </p:sp>
      <p:sp>
        <p:nvSpPr>
          <p:cNvPr id="15" name="KPI lbl 3"/>
          <p:cNvSpPr txBox="1"/>
          <p:nvPr/>
        </p:nvSpPr>
        <p:spPr>
          <a:xfrm>
            <a:off x="5449824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успешных вызовов</a:t>
            </a:r>
            <a:endParaRPr lang="en-US" sz="1100" dirty="0"/>
          </a:p>
        </p:txBody>
      </p:sp>
      <p:sp>
        <p:nvSpPr>
          <p:cNvPr id="16" name="KPI 4"/>
          <p:cNvSpPr/>
          <p:nvPr/>
        </p:nvSpPr>
        <p:spPr>
          <a:xfrm>
            <a:off x="7114032" y="109728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KPI num 4"/>
          <p:cNvSpPr txBox="1"/>
          <p:nvPr/>
        </p:nvSpPr>
        <p:spPr>
          <a:xfrm>
            <a:off x="7114032" y="1170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8371</a:t>
            </a:r>
            <a:endParaRPr lang="en-US" sz="2600" dirty="0"/>
          </a:p>
        </p:txBody>
      </p:sp>
      <p:sp>
        <p:nvSpPr>
          <p:cNvPr id="18" name="KPI lbl 4"/>
          <p:cNvSpPr txBox="1"/>
          <p:nvPr/>
        </p:nvSpPr>
        <p:spPr>
          <a:xfrm>
            <a:off x="7114032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токенов всего</a:t>
            </a:r>
            <a:endParaRPr lang="en-US" sz="1100" dirty="0"/>
          </a:p>
        </p:txBody>
      </p:sp>
      <p:graphicFrame>
        <p:nvGraphicFramePr>
          <p:cNvPr id="15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143000"/>
                <a:gridCol w="1371600"/>
                <a:gridCol w="3611880"/>
                <a:gridCol w="548640"/>
                <a:gridCol w="640080"/>
                <a:gridCol w="548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№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Тип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Ожидалось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Ответ агента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Шаги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Токены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Верно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Поиск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28 календарных дней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Ежегодный оплачиваемый отпуск составляет 28 календарных дней.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1113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Поиск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каждые 90 дней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Пароль от рабочей почты нужно менять каждые 90 дней.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1003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Вычисление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37500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Значение выражения (12500 * 12) / 4 равно 37500.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833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Поиск + вычисление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120000 сом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Сотрудник получит ежегодный бонус в размере 120 000 сом (20% от годового…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1653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Поиск + вычисление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25500 сом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Максимально возможная сумма суточных и проживания за командировку…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3769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Две «поломки» агента</a:t>
            </a:r>
            <a:endParaRPr lang="en-US" sz="3000" dirty="0"/>
          </a:p>
        </p:txBody>
      </p:sp>
      <p:sp>
        <p:nvSpPr>
          <p:cNvPr id="4" name="Break B1"/>
          <p:cNvSpPr/>
          <p:nvPr/>
        </p:nvSpPr>
        <p:spPr>
          <a:xfrm>
            <a:off x="457200" y="118872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reak chip B1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Break chip B1 text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B1</a:t>
            </a:r>
            <a:endParaRPr lang="en-US" sz="1400" dirty="0"/>
          </a:p>
        </p:txBody>
      </p:sp>
      <p:sp>
        <p:nvSpPr>
          <p:cNvPr id="7" name="Break head B1"/>
          <p:cNvSpPr txBox="1"/>
          <p:nvPr/>
        </p:nvSpPr>
        <p:spPr>
          <a:xfrm>
            <a:off x="123444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Ответа нет в документах</a:t>
            </a:r>
            <a:endParaRPr lang="en-US" sz="1600" dirty="0"/>
          </a:p>
        </p:txBody>
      </p:sp>
      <p:sp>
        <p:nvSpPr>
          <p:cNvPr id="8" name="Break q B1"/>
          <p:cNvSpPr txBox="1"/>
          <p:nvPr/>
        </p:nvSpPr>
        <p:spPr>
          <a:xfrm>
            <a:off x="640080" y="192024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Вопрос: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Какая зарплата у директора компании?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 журналу: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5 поисков подряд: «директор зарплата», «руководитель оплата труда», «директор доход», «директор», «ставка». Агент переформулировал запрос сам.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Итог: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Не придумал число: честно ответил, что в документах информации нет.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Шагов: 6, токенов: 4471</a:t>
            </a:r>
            <a:endParaRPr lang="en-US" sz="1300" dirty="0"/>
          </a:p>
        </p:txBody>
      </p:sp>
      <p:sp>
        <p:nvSpPr>
          <p:cNvPr id="9" name="Break B2"/>
          <p:cNvSpPr/>
          <p:nvPr/>
        </p:nvSpPr>
        <p:spPr>
          <a:xfrm>
            <a:off x="4663440" y="118872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reak chip B2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Break chip B2 text"/>
          <p:cNvSpPr txBox="1"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B2</a:t>
            </a:r>
            <a:endParaRPr lang="en-US" sz="1400" dirty="0"/>
          </a:p>
        </p:txBody>
      </p:sp>
      <p:sp>
        <p:nvSpPr>
          <p:cNvPr id="12" name="Break head B2"/>
          <p:cNvSpPr txBox="1"/>
          <p:nvPr/>
        </p:nvSpPr>
        <p:spPr>
          <a:xfrm>
            <a:off x="544068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Несуществующий инструмент</a:t>
            </a:r>
            <a:endParaRPr lang="en-US" sz="1600" dirty="0"/>
          </a:p>
        </p:txBody>
      </p:sp>
      <p:sp>
        <p:nvSpPr>
          <p:cNvPr id="13" name="Break q B2"/>
          <p:cNvSpPr txBox="1"/>
          <p:nvPr/>
        </p:nvSpPr>
        <p:spPr>
          <a:xfrm>
            <a:off x="4846320" y="192024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Вопрос: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Какая сейчас погода в Бишкеке? Обязательно используй инструмент weather.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 журналу: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Шаг 1: модель написала «Action: None» с пустым входом, парсер вернул ошибку формата. Шаг 2: Final Answer — инструмента weather нет.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Итог: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Не выдумала погоду. Ветка «неизвестный инструмент» вживую не сработала, её проверяет mock-тест.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Шагов: 2, токенов: 946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усвоил</a:t>
            </a:r>
            <a:endParaRPr lang="en-US" sz="3800" dirty="0"/>
          </a:p>
        </p:txBody>
      </p:sp>
      <p:sp>
        <p:nvSpPr>
          <p:cNvPr id="3" name="Point chip 0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Point chip 0 text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Point 0"/>
          <p:cNvSpPr txBox="1"/>
          <p:nvPr/>
        </p:nvSpPr>
        <p:spPr>
          <a:xfrm>
            <a:off x="1417320" y="1371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Модель только пишет текст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Инструменты, проверки и остановку выполняет код.</a:t>
            </a:r>
            <a:endParaRPr lang="en-US" sz="1400" dirty="0"/>
          </a:p>
        </p:txBody>
      </p:sp>
      <p:sp>
        <p:nvSpPr>
          <p:cNvPr id="6" name="Point chip 1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Point chip 1 text"/>
          <p:cNvSpPr txBox="1"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Point 1"/>
          <p:cNvSpPr txBox="1"/>
          <p:nvPr/>
        </p:nvSpPr>
        <p:spPr>
          <a:xfrm>
            <a:off x="1417320" y="21488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Ошибки возвращаем текстом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Observation с ошибкой позволяет агенту исправиться.</a:t>
            </a:r>
            <a:endParaRPr lang="en-US" sz="1400" dirty="0"/>
          </a:p>
        </p:txBody>
      </p:sp>
      <p:sp>
        <p:nvSpPr>
          <p:cNvPr id="9" name="Point chip 2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Point chip 2 text"/>
          <p:cNvSpPr txBox="1"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Point 2"/>
          <p:cNvSpPr txBox="1"/>
          <p:nvPr/>
        </p:nvSpPr>
        <p:spPr>
          <a:xfrm>
            <a:off x="1417320" y="29260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Журнал — основа оценки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Без шагов, токенов и задержек качество агента не измерить.</a:t>
            </a:r>
            <a:endParaRPr lang="en-US" sz="1400" dirty="0"/>
          </a:p>
        </p:txBody>
      </p:sp>
      <p:sp>
        <p:nvSpPr>
          <p:cNvPr id="12" name="Point chip 3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Point chip 3 text"/>
          <p:cNvSpPr txBox="1"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Point 3"/>
          <p:cNvSpPr txBox="1"/>
          <p:nvPr/>
        </p:nvSpPr>
        <p:spPr>
          <a:xfrm>
            <a:off x="1417320" y="37033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Начинайте с простого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Агент нужен, когда шаги заранее неизвестны.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ct Lab">
  <a:themeElements>
    <a:clrScheme name="ReAct Lab">
      <a:dk1>
        <a:srgbClr val="16222E"/>
      </a:dk1>
      <a:lt1>
        <a:srgbClr val="FFFFFF"/>
      </a:lt1>
      <a:dk2>
        <a:srgbClr val="1F8A70"/>
      </a:dk2>
      <a:lt2>
        <a:srgbClr val="EAF2F0"/>
      </a:lt2>
      <a:accent1>
        <a:srgbClr val="1F8A70"/>
      </a:accent1>
      <a:accent2>
        <a:srgbClr val="F2A33A"/>
      </a:accent2>
      <a:accent3>
        <a:srgbClr val="C8553D"/>
      </a:accent3>
      <a:accent4>
        <a:srgbClr val="5B6B73"/>
      </a:accent4>
      <a:accent5>
        <a:srgbClr val="7FC8B2"/>
      </a:accent5>
      <a:accent6>
        <a:srgbClr val="2F4858"/>
      </a:accent6>
      <a:hlink>
        <a:srgbClr val="1F8A70"/>
      </a:hlink>
      <a:folHlink>
        <a:srgbClr val="5B6B73"/>
      </a:folHlink>
    </a:clrScheme>
    <a:fontScheme name="ReAct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ReAct-агент: что нужно знать и что в лабораторной 4</dc:title>
  <dc:subject>PptxGenJS Presentation</dc:subject>
  <dc:creator>Baiastan Zamirbekov</dc:creator>
  <cp:lastModifiedBy>Baiastan Zamirbekov</cp:lastModifiedBy>
  <cp:revision>1</cp:revision>
  <dcterms:created xsi:type="dcterms:W3CDTF">2026-10-12T10:41:21Z</dcterms:created>
  <dcterms:modified xsi:type="dcterms:W3CDTF">2026-10-12T10:41:21Z</dcterms:modified>
</cp:coreProperties>
</file>